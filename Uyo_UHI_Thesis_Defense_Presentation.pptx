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4114800"/>
          </a:xfrm>
          <a:prstGeom prst="rect">
            <a:avLst/>
          </a:prstGeom>
          <a:noFill/>
        </p:spPr>
        <p:txBody>
          <a:bodyPr wrap="square">
            <a:spAutoFit/>
          </a:bodyPr>
          <a:lstStyle/>
          <a:p>
            <a:pPr>
              <a:defRPr sz="1300" b="1">
                <a:solidFill>
                  <a:srgbClr val="FCBA03"/>
                </a:solidFill>
              </a:defRPr>
            </a:pPr>
            <a:r>
              <a:t>FINAL YEAR THESIS DEFENSE</a:t>
            </a:r>
          </a:p>
          <a:p>
            <a:pPr>
              <a:defRPr sz="2800" b="1">
                <a:solidFill>
                  <a:srgbClr val="FFFFFF"/>
                </a:solidFill>
              </a:defRPr>
            </a:pPr>
            <a:r>
              <a:t>A Reproducible Multi-Temporal Analysis of Urban Heat Island Dynamics in Uyo LGA Using Landsat 8/9 and GIS</a:t>
            </a:r>
          </a:p>
          <a:p>
            <a:br/>
            <a:pPr>
              <a:defRPr sz="1600">
                <a:solidFill>
                  <a:srgbClr val="DCE1E6"/>
                </a:solidFill>
              </a:defRPr>
            </a:pPr>
            <a:r>
              <a:t>An End-to-End Geospatial Pipeline, Spatial Machine Learning Framework, and Cloud Explorer</a:t>
            </a:r>
          </a:p>
          <a:p>
            <a:br/>
            <a:pPr>
              <a:defRPr sz="1200">
                <a:solidFill>
                  <a:srgbClr val="B4BECD"/>
                </a:solidFill>
              </a:defRPr>
            </a:pPr>
            <a:r>
              <a:t>Presenter: Final-Year Student   |   Department of Geography &amp; Environmental Science</a:t>
            </a:r>
            <a:br/>
            <a:r>
              <a:t>System URL: https://uyo-uhi-thesis.streamlit.app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A50F15"/>
                </a:solidFill>
              </a:defRPr>
            </a:pPr>
            <a:r>
              <a:t>THESIS DEFENSE PRESENTATION</a:t>
            </a:r>
          </a:p>
          <a:p>
            <a:pPr>
              <a:defRPr sz="2200" b="1">
                <a:solidFill>
                  <a:srgbClr val="1A2B4C"/>
                </a:solidFill>
              </a:defRPr>
            </a:pPr>
            <a:r>
              <a:t>Research Aim &amp; Specific Objectives</a:t>
            </a:r>
          </a:p>
        </p:txBody>
      </p:sp>
      <p:sp>
        <p:nvSpPr>
          <p:cNvPr id="3" name="TextBox 2"/>
          <p:cNvSpPr txBox="1"/>
          <p:nvPr/>
        </p:nvSpPr>
        <p:spPr>
          <a:xfrm>
            <a:off x="731520" y="1371600"/>
            <a:ext cx="10728655" cy="4846320"/>
          </a:xfrm>
          <a:prstGeom prst="rect">
            <a:avLst/>
          </a:prstGeom>
          <a:noFill/>
        </p:spPr>
        <p:txBody>
          <a:bodyPr wrap="square">
            <a:spAutoFit/>
          </a:bodyPr>
          <a:lstStyle/>
          <a:p>
            <a:pPr>
              <a:defRPr sz="1400" b="1">
                <a:solidFill>
                  <a:srgbClr val="A50F15"/>
                </a:solidFill>
              </a:defRPr>
            </a:pPr>
            <a:r>
              <a:t>PRIMARY AIM:</a:t>
            </a:r>
          </a:p>
          <a:p>
            <a:pPr>
              <a:defRPr sz="1500">
                <a:solidFill>
                  <a:srgbClr val="282828"/>
                </a:solidFill>
              </a:defRPr>
            </a:pPr>
            <a:r>
              <a:t>To build an end-to-end, reproducible Python geospatial pipeline that quantifies and maps Urban Heat Island (UHI) dynamics in Uyo LGA, Akwa Ibom State, across multiple dates (2015–2025) and delivers results through an interactive Streamlit dashboard.</a:t>
            </a:r>
            <a:br/>
          </a:p>
          <a:p>
            <a:pPr>
              <a:defRPr sz="1400" b="1">
                <a:solidFill>
                  <a:srgbClr val="1A2B4C"/>
                </a:solidFill>
              </a:defRPr>
            </a:pPr>
            <a:r>
              <a:t>SPECIFIC OBJECTIVES:</a:t>
            </a:r>
          </a:p>
          <a:p>
            <a:pPr>
              <a:defRPr sz="1400">
                <a:solidFill>
                  <a:srgbClr val="282828"/>
                </a:solidFill>
              </a:defRPr>
            </a:pPr>
            <a:r>
              <a:t>1. Acquire &amp; preprocess Landsat 8/9 Collection 2 Level-2 imagery and official Uyo LGA boundary.</a:t>
            </a:r>
          </a:p>
          <a:p>
            <a:pPr>
              <a:defRPr sz="1400">
                <a:solidFill>
                  <a:srgbClr val="282828"/>
                </a:solidFill>
              </a:defRPr>
            </a:pPr>
            <a:r>
              <a:t>2. Derive NDVI, NDBI, and LST (°C) using exact USGS scale factors and bitwise QA cloud masking.</a:t>
            </a:r>
          </a:p>
          <a:p>
            <a:pPr>
              <a:defRPr sz="1400">
                <a:solidFill>
                  <a:srgbClr val="282828"/>
                </a:solidFill>
              </a:defRPr>
            </a:pPr>
            <a:r>
              <a:t>3. Perform spatial statistics (Getis-Ord Gi* hotspot clustering &amp; 10-year persistence modeling).</a:t>
            </a:r>
          </a:p>
          <a:p>
            <a:pPr>
              <a:defRPr sz="1400">
                <a:solidFill>
                  <a:srgbClr val="282828"/>
                </a:solidFill>
              </a:defRPr>
            </a:pPr>
            <a:r>
              <a:t>4. Train Random Forest &amp; XGBoost models using Spatial Blocked Cross-Validation (2 km x 2 km blocks) and SHAP feature attribution.</a:t>
            </a:r>
          </a:p>
          <a:p>
            <a:pPr>
              <a:defRPr sz="1400">
                <a:solidFill>
                  <a:srgbClr val="282828"/>
                </a:solidFill>
              </a:defRPr>
            </a:pPr>
            <a:r>
              <a:t>5. Deploy an interactive Streamlit dashboard for real-time thermal microclimate exploration.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A50F15"/>
                </a:solidFill>
              </a:defRPr>
            </a:pPr>
            <a:r>
              <a:t>THESIS DEFENSE PRESENTATION</a:t>
            </a:r>
          </a:p>
          <a:p>
            <a:pPr>
              <a:defRPr sz="2200" b="1">
                <a:solidFill>
                  <a:srgbClr val="1A2B4C"/>
                </a:solidFill>
              </a:defRPr>
            </a:pPr>
            <a:r>
              <a:t>Study Area: Uyo Local Government Area, Nigeria</a:t>
            </a:r>
          </a:p>
        </p:txBody>
      </p:sp>
      <p:sp>
        <p:nvSpPr>
          <p:cNvPr id="3" name="TextBox 2"/>
          <p:cNvSpPr txBox="1"/>
          <p:nvPr/>
        </p:nvSpPr>
        <p:spPr>
          <a:xfrm>
            <a:off x="731520" y="1371600"/>
            <a:ext cx="4754880" cy="4846320"/>
          </a:xfrm>
          <a:prstGeom prst="rect">
            <a:avLst/>
          </a:prstGeom>
          <a:noFill/>
        </p:spPr>
        <p:txBody>
          <a:bodyPr wrap="square">
            <a:spAutoFit/>
          </a:bodyPr>
          <a:lstStyle/>
          <a:p/>
          <a:p>
            <a:pPr>
              <a:defRPr sz="1300">
                <a:solidFill>
                  <a:srgbClr val="282828"/>
                </a:solidFill>
              </a:defRPr>
            </a:pPr>
            <a:r>
              <a:t>• Location: State Capital of Akwa Ibom State, Nigeria.</a:t>
            </a:r>
          </a:p>
          <a:p>
            <a:pPr>
              <a:defRPr sz="1300">
                <a:solidFill>
                  <a:srgbClr val="282828"/>
                </a:solidFill>
              </a:defRPr>
            </a:pPr>
            <a:r>
              <a:t>• Geographic Extent: 7.85°–8.05°E, 4.95°–5.10°N.</a:t>
            </a:r>
          </a:p>
          <a:p>
            <a:pPr>
              <a:defRPr sz="1300">
                <a:solidFill>
                  <a:srgbClr val="282828"/>
                </a:solidFill>
              </a:defRPr>
            </a:pPr>
            <a:r>
              <a:t>• Projected CRS: EPSG:32632 (UTM Zone 32N).</a:t>
            </a:r>
          </a:p>
          <a:p>
            <a:pPr>
              <a:defRPr sz="1300">
                <a:solidFill>
                  <a:srgbClr val="282828"/>
                </a:solidFill>
              </a:defRPr>
            </a:pPr>
            <a:r>
              <a:t>• Calculated Area: 186.53 sq km.</a:t>
            </a:r>
          </a:p>
          <a:p>
            <a:pPr>
              <a:defRPr sz="1300">
                <a:solidFill>
                  <a:srgbClr val="282828"/>
                </a:solidFill>
              </a:defRPr>
            </a:pPr>
            <a:r>
              <a:t>• Boundary Source: Verified via GRID3 Nigeria and OpenStreetMap (includes southern extension toward Etinan).</a:t>
            </a:r>
          </a:p>
          <a:p>
            <a:pPr>
              <a:defRPr sz="1300">
                <a:solidFill>
                  <a:srgbClr val="282828"/>
                </a:solidFill>
              </a:defRPr>
            </a:pPr>
            <a:r>
              <a:t>• Cartographic Layout: Multi-inset structure displaying context within Akwa Ibom State (Inset A) and Nigeria (Inset B).</a:t>
            </a:r>
          </a:p>
        </p:txBody>
      </p:sp>
      <p:pic>
        <p:nvPicPr>
          <p:cNvPr id="4" name="Picture 3" descr="01_study_area_map_publication_refined.png"/>
          <p:cNvPicPr>
            <a:picLocks noChangeAspect="1"/>
          </p:cNvPicPr>
          <p:nvPr/>
        </p:nvPicPr>
        <p:blipFill>
          <a:blip r:embed="rId2"/>
          <a:stretch>
            <a:fillRect/>
          </a:stretch>
        </p:blipFill>
        <p:spPr>
          <a:xfrm>
            <a:off x="5669280" y="1280160"/>
            <a:ext cx="5760720" cy="5029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A50F15"/>
                </a:solidFill>
              </a:defRPr>
            </a:pPr>
            <a:r>
              <a:t>THESIS DEFENSE PRESENTATION</a:t>
            </a:r>
          </a:p>
          <a:p>
            <a:pPr>
              <a:defRPr sz="2200" b="1">
                <a:solidFill>
                  <a:srgbClr val="1A2B4C"/>
                </a:solidFill>
              </a:defRPr>
            </a:pPr>
            <a:r>
              <a:t>Multi-Temporal Satellite Dataset &amp; Calibration</a:t>
            </a:r>
          </a:p>
        </p:txBody>
      </p:sp>
      <p:sp>
        <p:nvSpPr>
          <p:cNvPr id="3" name="TextBox 2"/>
          <p:cNvSpPr txBox="1"/>
          <p:nvPr/>
        </p:nvSpPr>
        <p:spPr>
          <a:xfrm>
            <a:off x="731520" y="1371600"/>
            <a:ext cx="10728655" cy="4846320"/>
          </a:xfrm>
          <a:prstGeom prst="rect">
            <a:avLst/>
          </a:prstGeom>
          <a:noFill/>
        </p:spPr>
        <p:txBody>
          <a:bodyPr wrap="square">
            <a:spAutoFit/>
          </a:bodyPr>
          <a:lstStyle/>
          <a:p>
            <a:pPr>
              <a:defRPr sz="1300" b="1">
                <a:solidFill>
                  <a:srgbClr val="A50F15"/>
                </a:solidFill>
              </a:defRPr>
            </a:pPr>
            <a:r>
              <a:t>1. LANDSAT COLLECTION 2 LEVEL-2 SCALE FACTORS:</a:t>
            </a:r>
          </a:p>
          <a:p>
            <a:pPr>
              <a:defRPr sz="1250">
                <a:solidFill>
                  <a:srgbClr val="282828"/>
                </a:solidFill>
              </a:defRPr>
            </a:pPr>
            <a:r>
              <a:t>   • Surface Reflectance (SR_B4, B5, B6): Reflectance = DN * 0.0000275 - 0.2</a:t>
            </a:r>
            <a:br/>
            <a:r>
              <a:t>   • Surface Temperature (ST_B10): LST (°C) = (DN * 0.00341802 + 149.0) - 273.15</a:t>
            </a:r>
            <a:br/>
            <a:r>
              <a:t>   • Compliance: ST_B10 is already surface temperature. No Planck law conversion applied.</a:t>
            </a:r>
            <a:br/>
          </a:p>
          <a:p>
            <a:pPr>
              <a:defRPr sz="1300" b="1">
                <a:solidFill>
                  <a:srgbClr val="1A2B4C"/>
                </a:solidFill>
              </a:defRPr>
            </a:pPr>
            <a:r>
              <a:t>2. MULTI-TEMPORAL DATASET (6 DRY-SEASON DATES, 2015–2025):</a:t>
            </a:r>
          </a:p>
          <a:p>
            <a:pPr>
              <a:defRPr sz="1200">
                <a:solidFill>
                  <a:srgbClr val="282828"/>
                </a:solidFill>
              </a:defRPr>
            </a:pPr>
            <a:r>
              <a:t>   • 2015-01-17 (Landsat 8) | Cloud Cover: 1.57% | Path 188 / Row 056</a:t>
            </a:r>
          </a:p>
          <a:p>
            <a:pPr>
              <a:defRPr sz="1200">
                <a:solidFill>
                  <a:srgbClr val="282828"/>
                </a:solidFill>
              </a:defRPr>
            </a:pPr>
            <a:r>
              <a:t>   • 2018-01-25 (Landsat 8) | Cloud Cover: 13.30% | Path 188 / Row 057</a:t>
            </a:r>
          </a:p>
          <a:p>
            <a:pPr>
              <a:defRPr sz="1200">
                <a:solidFill>
                  <a:srgbClr val="282828"/>
                </a:solidFill>
              </a:defRPr>
            </a:pPr>
            <a:r>
              <a:t>   • 2021-02-02 (Landsat 8) | Cloud Cover: 12.48% | Path 188 / Row 057</a:t>
            </a:r>
          </a:p>
          <a:p>
            <a:pPr>
              <a:defRPr sz="1200">
                <a:solidFill>
                  <a:srgbClr val="282828"/>
                </a:solidFill>
              </a:defRPr>
            </a:pPr>
            <a:r>
              <a:t>   • 2023-12-17 (Landsat 9) | Cloud Cover: 0.25% | Path 188 / Row 056</a:t>
            </a:r>
          </a:p>
          <a:p>
            <a:pPr>
              <a:defRPr sz="1200">
                <a:solidFill>
                  <a:srgbClr val="282828"/>
                </a:solidFill>
              </a:defRPr>
            </a:pPr>
            <a:r>
              <a:t>   • 2024-12-27 (Landsat 8) | Cloud Cover: 2.74% | Path 188 / Row 056</a:t>
            </a:r>
          </a:p>
          <a:p>
            <a:pPr>
              <a:defRPr sz="1200">
                <a:solidFill>
                  <a:srgbClr val="282828"/>
                </a:solidFill>
              </a:defRPr>
            </a:pPr>
            <a:r>
              <a:t>   • 2025-01-12 (Landsat 8) | Cloud Cover: 3.11% | Path 188 / Row 056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A50F15"/>
                </a:solidFill>
              </a:defRPr>
            </a:pPr>
            <a:r>
              <a:t>THESIS DEFENSE PRESENTATION</a:t>
            </a:r>
          </a:p>
          <a:p>
            <a:pPr>
              <a:defRPr sz="2200" b="1">
                <a:solidFill>
                  <a:srgbClr val="1A2B4C"/>
                </a:solidFill>
              </a:defRPr>
            </a:pPr>
            <a:r>
              <a:t>Results 1: Surface Microclimate Layer Derivation</a:t>
            </a:r>
          </a:p>
        </p:txBody>
      </p:sp>
      <p:sp>
        <p:nvSpPr>
          <p:cNvPr id="3" name="TextBox 2"/>
          <p:cNvSpPr txBox="1"/>
          <p:nvPr/>
        </p:nvSpPr>
        <p:spPr>
          <a:xfrm>
            <a:off x="731520" y="1280160"/>
            <a:ext cx="10728655" cy="1005840"/>
          </a:xfrm>
          <a:prstGeom prst="rect">
            <a:avLst/>
          </a:prstGeom>
          <a:noFill/>
        </p:spPr>
        <p:txBody>
          <a:bodyPr wrap="square">
            <a:spAutoFit/>
          </a:bodyPr>
          <a:lstStyle/>
          <a:p>
            <a:pPr>
              <a:defRPr sz="1300">
                <a:solidFill>
                  <a:srgbClr val="282828"/>
                </a:solidFill>
              </a:defRPr>
            </a:pPr>
            <a:r>
              <a:t>• NDVI Mean: 0.532 (Vegetation)   |   • NDBI Mean: -0.137 (Built-Up)   |   • Mean Surface Temp: 38.78°C</a:t>
            </a:r>
            <a:br/>
            <a:r>
              <a:t>• Spatial Pattern: Strong thermal contrast between central built-up core (&gt;42°C) and vegetated margins (&lt;36°C).</a:t>
            </a:r>
          </a:p>
        </p:txBody>
      </p:sp>
      <p:pic>
        <p:nvPicPr>
          <p:cNvPr id="4" name="Picture 3" descr="02_single_date_derived_indices_clean.png"/>
          <p:cNvPicPr>
            <a:picLocks noChangeAspect="1"/>
          </p:cNvPicPr>
          <p:nvPr/>
        </p:nvPicPr>
        <p:blipFill>
          <a:blip r:embed="rId2"/>
          <a:stretch>
            <a:fillRect/>
          </a:stretch>
        </p:blipFill>
        <p:spPr>
          <a:xfrm>
            <a:off x="731520" y="2286000"/>
            <a:ext cx="10728655"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A50F15"/>
                </a:solidFill>
              </a:defRPr>
            </a:pPr>
            <a:r>
              <a:t>THESIS DEFENSE PRESENTATION</a:t>
            </a:r>
          </a:p>
          <a:p>
            <a:pPr>
              <a:defRPr sz="2200" b="1">
                <a:solidFill>
                  <a:srgbClr val="1A2B4C"/>
                </a:solidFill>
              </a:defRPr>
            </a:pPr>
            <a:r>
              <a:t>Results 2: Thermal Microclimate Correlation Analysis</a:t>
            </a:r>
          </a:p>
        </p:txBody>
      </p:sp>
      <p:sp>
        <p:nvSpPr>
          <p:cNvPr id="3" name="TextBox 2"/>
          <p:cNvSpPr txBox="1"/>
          <p:nvPr/>
        </p:nvSpPr>
        <p:spPr>
          <a:xfrm>
            <a:off x="731520" y="1371600"/>
            <a:ext cx="4389120" cy="4846320"/>
          </a:xfrm>
          <a:prstGeom prst="rect">
            <a:avLst/>
          </a:prstGeom>
          <a:noFill/>
        </p:spPr>
        <p:txBody>
          <a:bodyPr wrap="square">
            <a:spAutoFit/>
          </a:bodyPr>
          <a:lstStyle/>
          <a:p/>
          <a:p>
            <a:pPr>
              <a:defRPr sz="1250" b="1">
                <a:solidFill>
                  <a:srgbClr val="A50F15"/>
                </a:solidFill>
              </a:defRPr>
            </a:pPr>
            <a:r>
              <a:t>LST vs. NDVI (Vegetation Cover):</a:t>
            </a:r>
          </a:p>
          <a:p>
            <a:pPr>
              <a:defRPr sz="1250" b="0">
                <a:solidFill>
                  <a:srgbClr val="282828"/>
                </a:solidFill>
              </a:defRPr>
            </a:pPr>
            <a:r>
              <a:t>• Pearson r = -0.875 (p &lt; 0.001)</a:t>
            </a:r>
          </a:p>
          <a:p>
            <a:pPr>
              <a:defRPr sz="1250" b="0">
                <a:solidFill>
                  <a:srgbClr val="282828"/>
                </a:solidFill>
              </a:defRPr>
            </a:pPr>
            <a:r>
              <a:t>• OLS: LST = -20.61(NDVI) + 49.74</a:t>
            </a:r>
          </a:p>
          <a:p>
            <a:pPr>
              <a:defRPr sz="1250" b="0">
                <a:solidFill>
                  <a:srgbClr val="282828"/>
                </a:solidFill>
              </a:defRPr>
            </a:pPr>
            <a:r>
              <a:t>• Impact: Every 0.1 increase in NDVI drops surface temperature by ~2.06°C.</a:t>
            </a:r>
            <a:br/>
          </a:p>
          <a:p>
            <a:pPr>
              <a:defRPr sz="1250" b="1">
                <a:solidFill>
                  <a:srgbClr val="A50F15"/>
                </a:solidFill>
              </a:defRPr>
            </a:pPr>
            <a:r>
              <a:t>LST vs. NDBI (Built-Up Intensity):</a:t>
            </a:r>
          </a:p>
          <a:p>
            <a:pPr>
              <a:defRPr sz="1250" b="0">
                <a:solidFill>
                  <a:srgbClr val="282828"/>
                </a:solidFill>
              </a:defRPr>
            </a:pPr>
            <a:r>
              <a:t>• Pearson r = +0.861 (p &lt; 0.001)</a:t>
            </a:r>
          </a:p>
          <a:p>
            <a:pPr>
              <a:defRPr sz="1250" b="0">
                <a:solidFill>
                  <a:srgbClr val="282828"/>
                </a:solidFill>
              </a:defRPr>
            </a:pPr>
            <a:r>
              <a:t>• OLS: LST = +26.04(NDBI) + 42.33</a:t>
            </a:r>
          </a:p>
          <a:p>
            <a:pPr>
              <a:defRPr sz="1250" b="0">
                <a:solidFill>
                  <a:srgbClr val="282828"/>
                </a:solidFill>
              </a:defRPr>
            </a:pPr>
            <a:r>
              <a:t>• Impact: Built surfaces elevate surface temperature by ~2.60°C per 0.1 NDBI increase.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A50F15"/>
                </a:solidFill>
              </a:defRPr>
            </a:pPr>
            <a:r>
              <a:t>THESIS DEFENSE PRESENTATION</a:t>
            </a:r>
          </a:p>
          <a:p>
            <a:pPr>
              <a:defRPr sz="2200" b="1">
                <a:solidFill>
                  <a:srgbClr val="1A2B4C"/>
                </a:solidFill>
              </a:defRPr>
            </a:pPr>
            <a:r>
              <a:t>Results 3: 10-Year Multi-Temporal Trajectory (2015–2025)</a:t>
            </a:r>
          </a:p>
        </p:txBody>
      </p:sp>
      <p:sp>
        <p:nvSpPr>
          <p:cNvPr id="3" name="TextBox 2"/>
          <p:cNvSpPr txBox="1"/>
          <p:nvPr/>
        </p:nvSpPr>
        <p:spPr>
          <a:xfrm>
            <a:off x="731520" y="1280160"/>
            <a:ext cx="10728655" cy="1005840"/>
          </a:xfrm>
          <a:prstGeom prst="rect">
            <a:avLst/>
          </a:prstGeom>
          <a:noFill/>
        </p:spPr>
        <p:txBody>
          <a:bodyPr wrap="square">
            <a:spAutoFit/>
          </a:bodyPr>
          <a:lstStyle/>
          <a:p>
            <a:pPr>
              <a:defRPr sz="1300">
                <a:solidFill>
                  <a:srgbClr val="282828"/>
                </a:solidFill>
              </a:defRPr>
            </a:pPr>
            <a:r>
              <a:t>• Thermal Peak: December 2023 (Mean LST = 38.78°C, Surface UHI Gap = +5.02°C).</a:t>
            </a:r>
            <a:br/>
            <a:r>
              <a:t>• Baseline Range: 33.11°C to 34.81°C. Built-up surfaces remain consistently hotter than vegetated areas across all 10 years.</a:t>
            </a:r>
          </a:p>
        </p:txBody>
      </p:sp>
      <p:pic>
        <p:nvPicPr>
          <p:cNvPr id="4" name="Picture 3" descr="04_multi_temporal_trend_complete.png"/>
          <p:cNvPicPr>
            <a:picLocks noChangeAspect="1"/>
          </p:cNvPicPr>
          <p:nvPr/>
        </p:nvPicPr>
        <p:blipFill>
          <a:blip r:embed="rId2"/>
          <a:stretch>
            <a:fillRect/>
          </a:stretch>
        </p:blipFill>
        <p:spPr>
          <a:xfrm>
            <a:off x="731520" y="2286000"/>
            <a:ext cx="10728655" cy="4114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A50F15"/>
                </a:solidFill>
              </a:defRPr>
            </a:pPr>
            <a:r>
              <a:t>THESIS DEFENSE PRESENTATION</a:t>
            </a:r>
          </a:p>
          <a:p>
            <a:pPr>
              <a:defRPr sz="2200" b="1">
                <a:solidFill>
                  <a:srgbClr val="1A2B4C"/>
                </a:solidFill>
              </a:defRPr>
            </a:pPr>
            <a:r>
              <a:t>Results 4: Getis-Ord Gi* Thermal Hotspot Persistence</a:t>
            </a:r>
          </a:p>
        </p:txBody>
      </p:sp>
      <p:sp>
        <p:nvSpPr>
          <p:cNvPr id="3" name="TextBox 2"/>
          <p:cNvSpPr txBox="1"/>
          <p:nvPr/>
        </p:nvSpPr>
        <p:spPr>
          <a:xfrm>
            <a:off x="731520" y="1371600"/>
            <a:ext cx="4754880" cy="4846320"/>
          </a:xfrm>
          <a:prstGeom prst="rect">
            <a:avLst/>
          </a:prstGeom>
          <a:noFill/>
        </p:spPr>
        <p:txBody>
          <a:bodyPr wrap="square">
            <a:spAutoFit/>
          </a:bodyPr>
          <a:lstStyle/>
          <a:p/>
          <a:p>
            <a:pPr>
              <a:defRPr sz="1300">
                <a:solidFill>
                  <a:srgbClr val="282828"/>
                </a:solidFill>
              </a:defRPr>
            </a:pPr>
            <a:r>
              <a:t>• Method: Getis-Ord Gi* local spatial autocorrelation calculated across 196 analysis zones for all 6 dates.</a:t>
            </a:r>
          </a:p>
          <a:p>
            <a:pPr>
              <a:defRPr sz="1300">
                <a:solidFill>
                  <a:srgbClr val="282828"/>
                </a:solidFill>
              </a:defRPr>
            </a:pPr>
            <a:r>
              <a:t>• Significance Threshold: Z-score &gt; +1.96 (p &lt; 0.05).</a:t>
            </a:r>
          </a:p>
          <a:p>
            <a:pPr>
              <a:defRPr sz="1300">
                <a:solidFill>
                  <a:srgbClr val="282828"/>
                </a:solidFill>
              </a:defRPr>
            </a:pPr>
            <a:r>
              <a:t>• Core Finding: Central Uyo (Easting ~380,500 m, Northing ~555,500 m) is a 100% persistent thermal hotspot (significant on ALL 6 dates).</a:t>
            </a:r>
          </a:p>
          <a:p>
            <a:pPr>
              <a:defRPr sz="1300">
                <a:solidFill>
                  <a:srgbClr val="282828"/>
                </a:solidFill>
              </a:defRPr>
            </a:pPr>
            <a:r>
              <a:t>• Spatial Alignment: Corresponds directly to the high-density commercial district around Ibom Plaza, Aka Road, and Ikot Ekpene Road.</a:t>
            </a:r>
          </a:p>
        </p:txBody>
      </p:sp>
      <p:pic>
        <p:nvPicPr>
          <p:cNvPr id="4" name="Picture 3" descr="05_hotspot_persistence_map.png"/>
          <p:cNvPicPr>
            <a:picLocks noChangeAspect="1"/>
          </p:cNvPicPr>
          <p:nvPr/>
        </p:nvPicPr>
        <p:blipFill>
          <a:blip r:embed="rId2"/>
          <a:stretch>
            <a:fillRect/>
          </a:stretch>
        </p:blipFill>
        <p:spPr>
          <a:xfrm>
            <a:off x="5669280" y="1280160"/>
            <a:ext cx="5760720"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A50F15"/>
                </a:solidFill>
              </a:defRPr>
            </a:pPr>
            <a:r>
              <a:t>THESIS DEFENSE PRESENTATION</a:t>
            </a:r>
          </a:p>
          <a:p>
            <a:pPr>
              <a:defRPr sz="2200" b="1">
                <a:solidFill>
                  <a:srgbClr val="1A2B4C"/>
                </a:solidFill>
              </a:defRPr>
            </a:pPr>
            <a:r>
              <a:t>Results 5: 5-Class LULC Classification &amp; Urban Sprawl</a:t>
            </a:r>
          </a:p>
        </p:txBody>
      </p:sp>
      <p:sp>
        <p:nvSpPr>
          <p:cNvPr id="3" name="TextBox 2"/>
          <p:cNvSpPr txBox="1"/>
          <p:nvPr/>
        </p:nvSpPr>
        <p:spPr>
          <a:xfrm>
            <a:off x="731520" y="1280160"/>
            <a:ext cx="10728655" cy="1005840"/>
          </a:xfrm>
          <a:prstGeom prst="rect">
            <a:avLst/>
          </a:prstGeom>
          <a:noFill/>
        </p:spPr>
        <p:txBody>
          <a:bodyPr wrap="square">
            <a:spAutoFit/>
          </a:bodyPr>
          <a:lstStyle/>
          <a:p>
            <a:pPr>
              <a:defRPr sz="1300">
                <a:solidFill>
                  <a:srgbClr val="282828"/>
                </a:solidFill>
              </a:defRPr>
            </a:pPr>
            <a:r>
              <a:t>• Built-Up Expansion: 30.6 sq km (2015) → 31.7 sq km (2023) [+1.1 sq km Net Sprawl].</a:t>
            </a:r>
            <a:br/>
            <a:r>
              <a:t>• Spatial Growth Vectors: Sprawl radiates outward along primary transportation arteries (Abak Road, Oron Road, Nwaniba Road).</a:t>
            </a:r>
          </a:p>
        </p:txBody>
      </p:sp>
      <p:pic>
        <p:nvPicPr>
          <p:cNvPr id="4" name="Picture 3" descr="07_lulc_5class_calibrated.png"/>
          <p:cNvPicPr>
            <a:picLocks noChangeAspect="1"/>
          </p:cNvPicPr>
          <p:nvPr/>
        </p:nvPicPr>
        <p:blipFill>
          <a:blip r:embed="rId2"/>
          <a:stretch>
            <a:fillRect/>
          </a:stretch>
        </p:blipFill>
        <p:spPr>
          <a:xfrm>
            <a:off x="731520" y="2286000"/>
            <a:ext cx="10728655" cy="4114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A50F15"/>
                </a:solidFill>
              </a:defRPr>
            </a:pPr>
            <a:r>
              <a:t>THESIS DEFENSE PRESENTATION</a:t>
            </a:r>
          </a:p>
          <a:p>
            <a:pPr>
              <a:defRPr sz="2200" b="1">
                <a:solidFill>
                  <a:srgbClr val="1A2B4C"/>
                </a:solidFill>
              </a:defRPr>
            </a:pPr>
            <a:r>
              <a:t>Results 6: Machine Learning (Spatial Blocked CV &amp; SHAP)</a:t>
            </a:r>
          </a:p>
        </p:txBody>
      </p:sp>
      <p:sp>
        <p:nvSpPr>
          <p:cNvPr id="3" name="TextBox 2"/>
          <p:cNvSpPr txBox="1"/>
          <p:nvPr/>
        </p:nvSpPr>
        <p:spPr>
          <a:xfrm>
            <a:off x="731520" y="1371600"/>
            <a:ext cx="4754880" cy="4846320"/>
          </a:xfrm>
          <a:prstGeom prst="rect">
            <a:avLst/>
          </a:prstGeom>
          <a:noFill/>
        </p:spPr>
        <p:txBody>
          <a:bodyPr wrap="square">
            <a:spAutoFit/>
          </a:bodyPr>
          <a:lstStyle/>
          <a:p/>
          <a:p>
            <a:pPr>
              <a:defRPr sz="1250" b="1">
                <a:solidFill>
                  <a:srgbClr val="A50F15"/>
                </a:solidFill>
              </a:defRPr>
            </a:pPr>
            <a:r>
              <a:t>Spatial Blocked CV Evaluation:</a:t>
            </a:r>
          </a:p>
          <a:p>
            <a:pPr>
              <a:defRPr sz="1250" b="0">
                <a:solidFill>
                  <a:srgbClr val="282828"/>
                </a:solidFill>
              </a:defRPr>
            </a:pPr>
            <a:r>
              <a:t>• Random Forest: R² = 0.862 | RMSE = 1.04°C | MAE = 0.81°C</a:t>
            </a:r>
          </a:p>
          <a:p>
            <a:pPr>
              <a:defRPr sz="1250" b="0">
                <a:solidFill>
                  <a:srgbClr val="282828"/>
                </a:solidFill>
              </a:defRPr>
            </a:pPr>
            <a:r>
              <a:t>• XGBoost (Best): R² = 0.884 | RMSE = 0.92°C | MAE = 0.73°C</a:t>
            </a:r>
            <a:br/>
          </a:p>
          <a:p>
            <a:pPr>
              <a:defRPr sz="1250" b="1">
                <a:solidFill>
                  <a:srgbClr val="A50F15"/>
                </a:solidFill>
              </a:defRPr>
            </a:pPr>
            <a:r>
              <a:t>SHAP Feature Drivers:</a:t>
            </a:r>
          </a:p>
          <a:p>
            <a:pPr>
              <a:defRPr sz="1250" b="0">
                <a:solidFill>
                  <a:srgbClr val="282828"/>
                </a:solidFill>
              </a:defRPr>
            </a:pPr>
            <a:r>
              <a:t>• NDVI: Dominant cooling driver (reduces LST by up to -2.5°C).</a:t>
            </a:r>
          </a:p>
          <a:p>
            <a:pPr>
              <a:defRPr sz="1250" b="0">
                <a:solidFill>
                  <a:srgbClr val="282828"/>
                </a:solidFill>
              </a:defRPr>
            </a:pPr>
            <a:r>
              <a:t>• NDBI: Primary warming driver (increases LST by up to +2.0°C).</a:t>
            </a:r>
          </a:p>
          <a:p>
            <a:pPr>
              <a:defRPr sz="1250" b="0">
                <a:solidFill>
                  <a:srgbClr val="282828"/>
                </a:solidFill>
              </a:defRPr>
            </a:pPr>
            <a:r>
              <a:t>• Spatial Coordinates: Captures urban density vs. rural hinterland gradient.</a:t>
            </a:r>
          </a:p>
        </p:txBody>
      </p:sp>
      <p:pic>
        <p:nvPicPr>
          <p:cNvPr id="4" name="Picture 3" descr="06_ml_shap_summary.png"/>
          <p:cNvPicPr>
            <a:picLocks noChangeAspect="1"/>
          </p:cNvPicPr>
          <p:nvPr/>
        </p:nvPicPr>
        <p:blipFill>
          <a:blip r:embed="rId2"/>
          <a:stretch>
            <a:fillRect/>
          </a:stretch>
        </p:blipFill>
        <p:spPr>
          <a:xfrm>
            <a:off x="5486400" y="1645920"/>
            <a:ext cx="5943600" cy="4114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A50F15"/>
                </a:solidFill>
              </a:defRPr>
            </a:pPr>
            <a:r>
              <a:t>THESIS DEFENSE PRESENTATION</a:t>
            </a:r>
          </a:p>
          <a:p>
            <a:pPr>
              <a:defRPr sz="2200" b="1">
                <a:solidFill>
                  <a:srgbClr val="1A2B4C"/>
                </a:solidFill>
              </a:defRPr>
            </a:pPr>
            <a:r>
              <a:t>Interactive Cloud Explorer Architecture</a:t>
            </a:r>
          </a:p>
        </p:txBody>
      </p:sp>
      <p:sp>
        <p:nvSpPr>
          <p:cNvPr id="3" name="TextBox 2"/>
          <p:cNvSpPr txBox="1"/>
          <p:nvPr/>
        </p:nvSpPr>
        <p:spPr>
          <a:xfrm>
            <a:off x="731520" y="1371600"/>
            <a:ext cx="10728655" cy="4846320"/>
          </a:xfrm>
          <a:prstGeom prst="rect">
            <a:avLst/>
          </a:prstGeom>
          <a:noFill/>
        </p:spPr>
        <p:txBody>
          <a:bodyPr wrap="square">
            <a:spAutoFit/>
          </a:bodyPr>
          <a:lstStyle/>
          <a:p/>
          <a:p>
            <a:pPr>
              <a:defRPr sz="1400">
                <a:solidFill>
                  <a:srgbClr val="282828"/>
                </a:solidFill>
              </a:defRPr>
            </a:pPr>
            <a:r>
              <a:t>• Architecture Design: Decoupled Heavy Pre-Compute Pipeline → Lightweight Streamlit App.</a:t>
            </a:r>
          </a:p>
          <a:p>
            <a:pPr>
              <a:defRPr sz="1400">
                <a:solidFill>
                  <a:srgbClr val="282828"/>
                </a:solidFill>
              </a:defRPr>
            </a:pPr>
            <a:r>
              <a:t>• 1. Overview Mode: Displays publication Study Area Map &amp; 5-Class LULC Sprawl maps.</a:t>
            </a:r>
          </a:p>
          <a:p>
            <a:pPr>
              <a:defRPr sz="1400">
                <a:solidFill>
                  <a:srgbClr val="282828"/>
                </a:solidFill>
              </a:defRPr>
            </a:pPr>
            <a:r>
              <a:t>• 2. Single-Date Explorer: Interactive Folium choropleths &amp; Plotly OLS regression.</a:t>
            </a:r>
          </a:p>
          <a:p>
            <a:pPr>
              <a:defRPr sz="1400">
                <a:solidFill>
                  <a:srgbClr val="282828"/>
                </a:solidFill>
              </a:defRPr>
            </a:pPr>
            <a:r>
              <a:t>• 3. Dual-Date Comparison Mode: Side-by-side comparative mapping between any two observation dates.</a:t>
            </a:r>
          </a:p>
          <a:p>
            <a:pPr>
              <a:defRPr sz="1400">
                <a:solidFill>
                  <a:srgbClr val="282828"/>
                </a:solidFill>
              </a:defRPr>
            </a:pPr>
            <a:r>
              <a:t>• 4. Hotspot &amp; ML Mode: Getis-Ord Gi* persistence mapping &amp; SHAP predictive insights.</a:t>
            </a:r>
          </a:p>
          <a:p>
            <a:pPr>
              <a:defRPr sz="1400">
                <a:solidFill>
                  <a:srgbClr val="282828"/>
                </a:solidFill>
              </a:defRPr>
            </a:pPr>
            <a:r>
              <a:t>• 5. Export Utility: Filtered zonal statistics table CSV download button.</a:t>
            </a:r>
          </a:p>
          <a:p>
            <a:pPr>
              <a:defRPr sz="1400">
                <a:solidFill>
                  <a:srgbClr val="282828"/>
                </a:solidFill>
              </a:defRPr>
            </a:pPr>
            <a:r>
              <a:t>• Live Cloud Deployment: Hosted 24/7 on Streamlit Cloud (https://uyo-uhi-thesis.streamlit.app).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A50F15"/>
                </a:solidFill>
              </a:defRPr>
            </a:pPr>
            <a:r>
              <a:t>THESIS DEFENSE PRESENTATION</a:t>
            </a:r>
          </a:p>
          <a:p>
            <a:pPr>
              <a:defRPr sz="2200" b="1">
                <a:solidFill>
                  <a:srgbClr val="1A2B4C"/>
                </a:solidFill>
              </a:defRPr>
            </a:pPr>
            <a:r>
              <a:t>Planning Recommendations &amp; Limitations</a:t>
            </a:r>
          </a:p>
        </p:txBody>
      </p:sp>
      <p:sp>
        <p:nvSpPr>
          <p:cNvPr id="3" name="TextBox 2"/>
          <p:cNvSpPr txBox="1"/>
          <p:nvPr/>
        </p:nvSpPr>
        <p:spPr>
          <a:xfrm>
            <a:off x="731520" y="1371600"/>
            <a:ext cx="10728655" cy="4846320"/>
          </a:xfrm>
          <a:prstGeom prst="rect">
            <a:avLst/>
          </a:prstGeom>
          <a:noFill/>
        </p:spPr>
        <p:txBody>
          <a:bodyPr wrap="square">
            <a:spAutoFit/>
          </a:bodyPr>
          <a:lstStyle/>
          <a:p>
            <a:pPr>
              <a:defRPr sz="1400" b="1">
                <a:solidFill>
                  <a:srgbClr val="A50F15"/>
                </a:solidFill>
              </a:defRPr>
            </a:pPr>
            <a:r>
              <a:t>URBAN PLANNING RECOMMENDATIONS FOR UYO LGA:</a:t>
            </a:r>
          </a:p>
          <a:p>
            <a:pPr>
              <a:defRPr sz="1300">
                <a:solidFill>
                  <a:srgbClr val="282828"/>
                </a:solidFill>
              </a:defRPr>
            </a:pPr>
            <a:r>
              <a:t>1. Targeted Urban Greening: Mandatory green infrastructure along Ibom Plaza and major transport arteries.</a:t>
            </a:r>
          </a:p>
          <a:p>
            <a:pPr>
              <a:defRPr sz="1300">
                <a:solidFill>
                  <a:srgbClr val="282828"/>
                </a:solidFill>
              </a:defRPr>
            </a:pPr>
            <a:r>
              <a:t>2. Cool Roof Policies: Incentivize high-albedo roofing materials in dense commercial zones.</a:t>
            </a:r>
          </a:p>
          <a:p>
            <a:pPr>
              <a:defRPr sz="1300">
                <a:solidFill>
                  <a:srgbClr val="282828"/>
                </a:solidFill>
              </a:defRPr>
            </a:pPr>
            <a:r>
              <a:t>3. Wetland Preservation: Enforce conservation buffers along Ikpa River and Anua stream corridors.</a:t>
            </a:r>
          </a:p>
          <a:p>
            <a:br/>
            <a:pPr>
              <a:defRPr sz="1400" b="1">
                <a:solidFill>
                  <a:srgbClr val="1A2B4C"/>
                </a:solidFill>
              </a:defRPr>
            </a:pPr>
            <a:r>
              <a:t>SCIENTIFIC LIMITATIONS (SECTION 15 COMPLIANCE):</a:t>
            </a:r>
          </a:p>
          <a:p>
            <a:pPr>
              <a:defRPr sz="1300">
                <a:solidFill>
                  <a:srgbClr val="282828"/>
                </a:solidFill>
              </a:defRPr>
            </a:pPr>
            <a:r>
              <a:t>• LST != Air Temperature: Measures radiative land surface skin temperature, not 2 m ambient air temp.</a:t>
            </a:r>
          </a:p>
          <a:p>
            <a:pPr>
              <a:defRPr sz="1300">
                <a:solidFill>
                  <a:srgbClr val="282828"/>
                </a:solidFill>
              </a:defRPr>
            </a:pPr>
            <a:r>
              <a:t>• Snapshot Overpass: Landsat overpasses mid-morning (~10:00 AM local time), capturing pre-peak conditions.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